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4CEC49-2B27-4EB3-A958-7829F6D2346E}" v="131" dt="2026-03-06T08:28:07.0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60" autoAdjust="0"/>
    <p:restoredTop sz="94660"/>
  </p:normalViewPr>
  <p:slideViewPr>
    <p:cSldViewPr snapToGrid="0">
      <p:cViewPr varScale="1">
        <p:scale>
          <a:sx n="82" d="100"/>
          <a:sy n="82" d="100"/>
        </p:scale>
        <p:origin x="874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1812759"/>
            <a:ext cx="6253317" cy="2512353"/>
          </a:xfrm>
        </p:spPr>
        <p:txBody>
          <a:bodyPr>
            <a:noAutofit/>
          </a:bodyPr>
          <a:lstStyle/>
          <a:p>
            <a:r>
              <a:rPr lang="en-US" sz="6000" dirty="0"/>
              <a:t>Road Accident Prediction and Risk Classification in India</a:t>
            </a:r>
            <a:endParaRPr lang="en-IN" sz="6000" dirty="0">
              <a:effectLst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4" y="5708154"/>
            <a:ext cx="6269347" cy="1021498"/>
          </a:xfrm>
        </p:spPr>
        <p:txBody>
          <a:bodyPr>
            <a:normAutofit/>
          </a:bodyPr>
          <a:lstStyle/>
          <a:p>
            <a:r>
              <a:rPr lang="en-US" dirty="0" err="1"/>
              <a:t>Fathimathul</a:t>
            </a:r>
            <a:r>
              <a:rPr lang="en-US" dirty="0"/>
              <a:t> mina c h</a:t>
            </a:r>
            <a:endParaRPr lang="en-US" dirty="0">
              <a:effectLst/>
            </a:endParaRP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ED1AE-0158-531A-EC6E-E10E63DFF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008498"/>
            <a:ext cx="10058400" cy="1450757"/>
          </a:xfrm>
        </p:spPr>
        <p:txBody>
          <a:bodyPr/>
          <a:lstStyle/>
          <a:p>
            <a:r>
              <a:rPr lang="en-IN" dirty="0"/>
              <a:t>Project Objective</a:t>
            </a:r>
            <a:br>
              <a:rPr lang="en-IN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8F006AA-6DC6-7171-DA4E-3C9CCFED36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144033"/>
            <a:ext cx="11265969" cy="25699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analyze road accident patterns in India (2016–2022) using state-wise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Perform preprocessing and detailed EDA to understand trends, especially in Kerala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Build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regression model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predict the exact number of accidents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Build </a:t>
            </a: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classification model</a:t>
            </a: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predict high-risk vs low-risk accident years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Compare models, select the best, and tune hyperparameters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 actionable insights for road safety (focus on Kerala) </a:t>
            </a:r>
          </a:p>
        </p:txBody>
      </p:sp>
    </p:spTree>
    <p:extLst>
      <p:ext uri="{BB962C8B-B14F-4D97-AF65-F5344CB8AC3E}">
        <p14:creationId xmlns:p14="http://schemas.microsoft.com/office/powerpoint/2010/main" val="3942940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A50B8-9392-4E5D-2782-C3FB06AC6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AEAD4C6-3E95-F935-2D77-9A068224C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7280" y="1898653"/>
            <a:ext cx="10276572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India has one of the highest road accident rates globally (~1.5 lakh deaths/year – MoRTH)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Accidents are unevenly distributed — concentrated in large states like Tamil Nadu, Kerala, Madhya Pradesh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Current analysis is mostly retrospective; lack of predictive tools to forecast numbers or identify high-risk years early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Without prediction models, proactive safety planning (police deployment, campaigns) is difficult </a:t>
            </a:r>
          </a:p>
        </p:txBody>
      </p:sp>
    </p:spTree>
    <p:extLst>
      <p:ext uri="{BB962C8B-B14F-4D97-AF65-F5344CB8AC3E}">
        <p14:creationId xmlns:p14="http://schemas.microsoft.com/office/powerpoint/2010/main" val="1075883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98C81-4214-2C18-2710-DE0F025C0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Overview</a:t>
            </a:r>
            <a:endParaRPr lang="en-IN" dirty="0">
              <a:effectLst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B99BD5A-2E3C-C9E5-B660-A64214277C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172112"/>
            <a:ext cx="10838046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Source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Merged &amp; preprocessed from ~7 raw datasets downloaded from data.gov.in (Ministry of Road Transport &amp; Highways / related transport data)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Rows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175 state-year records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Time Period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2016–2022 (recent, reliable reporting years)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Key Columns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1.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State_UT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(categorical – 35 states/UTs)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  2.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Year (numeric)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  3.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Accidents_clean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(main target for regression – cleaned accident count)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  4.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Accidents_prev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(previous year accidents – strongest predictor)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  5.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Acc_Per_Lakh_Pop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(accidents per 100,000 population)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6. Acc_Per_10k_Veh (accidents per 10,000 vehicles)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  7.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Acc_Per_10k_Km (accidents per 10,000 km of road)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Quality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No missing values, no constant/useless columns, sorted by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State_UT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Year, ready for modeling </a:t>
            </a:r>
          </a:p>
        </p:txBody>
      </p:sp>
    </p:spTree>
    <p:extLst>
      <p:ext uri="{BB962C8B-B14F-4D97-AF65-F5344CB8AC3E}">
        <p14:creationId xmlns:p14="http://schemas.microsoft.com/office/powerpoint/2010/main" val="4003524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3BDCA-0E7C-42D5-D094-4FDB188EC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Preprocessing Summary</a:t>
            </a:r>
            <a:endParaRPr lang="en-IN" dirty="0">
              <a:effectLst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FE1C7A2-6B99-1452-9B70-73E5DD4BB5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77361" y="2106691"/>
            <a:ext cx="10512128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Loaded ~7 raw datasets from data.gov.in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Filled rare zeros in rates with state-level median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Dropped constant/useless columns (e.g.,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high_risk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was all 1s)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Sorted by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State_UT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Year for time analysis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Scaled numeric features (Year, rates,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Accidents_prev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One-hot encoded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State_UT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only when modeling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Final file: road_accidents_preprocessed_not_encoded.csv (clean, no dummies in file) </a:t>
            </a:r>
          </a:p>
        </p:txBody>
      </p:sp>
    </p:spTree>
    <p:extLst>
      <p:ext uri="{BB962C8B-B14F-4D97-AF65-F5344CB8AC3E}">
        <p14:creationId xmlns:p14="http://schemas.microsoft.com/office/powerpoint/2010/main" val="3600823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2965C-9D1E-E208-1AEB-F9637F5E0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EDA Findings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9001A97-F0DE-08CD-593C-A40BE584A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7799" y="1816530"/>
            <a:ext cx="953640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Highly skewed distribution: Most state-years &lt;5,000 accidents; few &gt;50,000 (large states)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6CEAAF-2A87-2A26-1236-44B58C63A7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264" y="2556819"/>
            <a:ext cx="7586461" cy="3843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198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82"/>
    </mc:Choice>
    <mc:Fallback xmlns="">
      <p:transition spd="slow" advTm="4382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C02A5-1E33-D383-1B00-ED8EB43B4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EDA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6CA3B-331A-79A1-C279-58338AC1E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National average stable (~13,000–14,000) from 2016–2022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023DDF-C08A-EEB8-E3A5-058DDBA0AC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0535" y="2507361"/>
            <a:ext cx="5872067" cy="3732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477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A924E-3E9B-6464-52ED-A9B89D443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EDA Findings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D7E78A-ED01-06C1-0556-F12EABB8E6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8563" y="2377801"/>
            <a:ext cx="5959160" cy="37607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A6A6920-32C0-4703-7584-17F81D9D486C}"/>
              </a:ext>
            </a:extLst>
          </p:cNvPr>
          <p:cNvSpPr txBox="1"/>
          <p:nvPr/>
        </p:nvSpPr>
        <p:spPr>
          <a:xfrm>
            <a:off x="1097280" y="1985984"/>
            <a:ext cx="8961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effectLst/>
              </a:rPr>
              <a:t>Kerala trend: Slight increase (39,420 in 2016 → 43,970 in 2022) — consistently high-risk</a:t>
            </a:r>
          </a:p>
        </p:txBody>
      </p:sp>
    </p:spTree>
    <p:extLst>
      <p:ext uri="{BB962C8B-B14F-4D97-AF65-F5344CB8AC3E}">
        <p14:creationId xmlns:p14="http://schemas.microsoft.com/office/powerpoint/2010/main" val="2271596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B5BB0-7E82-EB33-9575-C7491B8D9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EDA Findings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16E947-0B87-6BB7-77D8-154DDB72B2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2119773"/>
            <a:ext cx="4099258" cy="37607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FCF3F72-E18A-4210-355B-77E4759887F6}"/>
              </a:ext>
            </a:extLst>
          </p:cNvPr>
          <p:cNvSpPr txBox="1"/>
          <p:nvPr/>
        </p:nvSpPr>
        <p:spPr>
          <a:xfrm>
            <a:off x="5649025" y="2153183"/>
            <a:ext cx="55066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effectLst/>
              </a:rPr>
              <a:t>Previous accidents strongly predict current (</a:t>
            </a:r>
            <a:r>
              <a:rPr lang="en-US" dirty="0" err="1">
                <a:effectLst/>
              </a:rPr>
              <a:t>corr</a:t>
            </a:r>
            <a:r>
              <a:rPr lang="en-US" dirty="0">
                <a:effectLst/>
              </a:rPr>
              <a:t> ~0.99)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05496E-7828-BC24-6172-5B794EAB6F69}"/>
              </a:ext>
            </a:extLst>
          </p:cNvPr>
          <p:cNvSpPr txBox="1"/>
          <p:nvPr/>
        </p:nvSpPr>
        <p:spPr>
          <a:xfrm>
            <a:off x="5649025" y="2522515"/>
            <a:ext cx="61569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effectLst/>
              </a:rPr>
              <a:t>Top states: Tamil Nadu (~64k), Madhya Pradesh (~52k), Karnataka (~42k), Kerala (~41k)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55A33D6-3151-42C1-DA43-FA1943C902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4012" y="3429000"/>
            <a:ext cx="4099258" cy="2609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984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99DF6-F9E0-301A-B51F-E0FEC33D6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988908"/>
            <a:ext cx="10058400" cy="1450757"/>
          </a:xfrm>
        </p:spPr>
        <p:txBody>
          <a:bodyPr>
            <a:normAutofit fontScale="90000"/>
          </a:bodyPr>
          <a:lstStyle/>
          <a:p>
            <a:r>
              <a:rPr lang="en-IN" dirty="0"/>
              <a:t>Regression Modelling - Predicting Exact Accidents</a:t>
            </a:r>
            <a:br>
              <a:rPr lang="en-IN" dirty="0"/>
            </a:br>
            <a:r>
              <a:rPr lang="en-IN" dirty="0"/>
              <a:t>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95DE9AB-45BF-D76E-C874-EE76201F1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5718" y="2150149"/>
            <a:ext cx="9929962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Target: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Accidents_clean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(continuous number)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Features: Year,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Accidents_prev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rates,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State_UT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(one-hot)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Split: Time-based (train ≤2019, test ≥2020)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Models compared: Linear Regression, Decision Tree, Random Forest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Best model: Random Forest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Performance: MAE ~785, R² ~0.9939 (99.39% variance explained)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Feature importance: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Accidents_prev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dominates (98%) </a:t>
            </a:r>
          </a:p>
        </p:txBody>
      </p:sp>
    </p:spTree>
    <p:extLst>
      <p:ext uri="{BB962C8B-B14F-4D97-AF65-F5344CB8AC3E}">
        <p14:creationId xmlns:p14="http://schemas.microsoft.com/office/powerpoint/2010/main" val="29187665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A7954-7B07-85ED-A1F9-A4127FD3F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Regression Model Comparison – MAE &amp; R²</a:t>
            </a:r>
            <a:endParaRPr lang="en-IN" dirty="0">
              <a:effectLst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2949B0-7F28-5D3A-B883-88075B509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57900"/>
            <a:ext cx="5249008" cy="31627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335B823-D97B-D802-AF3B-62D9218E8420}"/>
              </a:ext>
            </a:extLst>
          </p:cNvPr>
          <p:cNvSpPr txBox="1"/>
          <p:nvPr/>
        </p:nvSpPr>
        <p:spPr>
          <a:xfrm>
            <a:off x="6667130" y="2939105"/>
            <a:ext cx="52490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Model comparison showing Linear Regression as the selected model with lowest MAE (939) and highest R² (0.993), outperforming Decision Tree, KNN, and SVM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047703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9F87-76AF-0791-10B5-2EF8FD320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Regression Modelling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E21A0BC-657B-ECA2-1228-24EA8A099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431" y="2382681"/>
            <a:ext cx="11646569" cy="3354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Predict the exact number of accidents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Accidents_clean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for a state-year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Year,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Accidents_prev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Acc_Per_Lakh_Pop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Acc_Per_10k_Veh, Acc_Per_10k_Km,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State_UT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(one-hot encoded)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Train/Test Split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Time-based (train ≤2019, test ≥2020)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Models Compared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Linear Regression, Decision Tree, KNN, SVM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Best Model Chosen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Linear Regression (highest R² = 0.9929, lowest MAE = 939)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 Highlights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R² = 0.9929 (explains 99.29% of variance)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MAE = 939 accidents (average error)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RMSE = 1,452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Key Insight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Previous year accidents dominate (strong persistence in data) </a:t>
            </a:r>
          </a:p>
        </p:txBody>
      </p:sp>
    </p:spTree>
    <p:extLst>
      <p:ext uri="{BB962C8B-B14F-4D97-AF65-F5344CB8AC3E}">
        <p14:creationId xmlns:p14="http://schemas.microsoft.com/office/powerpoint/2010/main" val="21718837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830FD-EDF3-EF29-79A1-45E015BB3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Classification Modeling – High vs Low Accident Years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65223CD-B1A9-BBAD-EC77-35644EE2C9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937" y="2551747"/>
            <a:ext cx="11341768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Objective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Predict if a state-year is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high-risk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(&gt;5,000 accidents = 1) or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low-risk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(≤5,000 = 0)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Features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Year,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Accidents_prev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Acc_Per_Lakh_Pop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Acc_Per_10k_Veh, Acc_Per_10k_Km,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State_UT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(one-hot encoded)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Train/Test Split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Time-based (train ≤2019, test ≥2020)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Models Compared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Logistic Regression, Decision Tree, Random Forest, KNN, SVM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Selected Model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Logistic Regression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(simple, interpretable, strong performance)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Performance Highlights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Accuracy: [</a:t>
            </a:r>
            <a:r>
              <a:rPr lang="en-US" altLang="en-US" dirty="0">
                <a:latin typeface="Arial" panose="020B0604020202020204" pitchFamily="34" charset="0"/>
              </a:rPr>
              <a:t>0..98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ROC-AUC: [0.98]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High precision/recall for both classes (especially high-risk)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Key Insight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Previous accidents dominate prediction — model learns persistence in accident patterns </a:t>
            </a:r>
          </a:p>
        </p:txBody>
      </p:sp>
    </p:spTree>
    <p:extLst>
      <p:ext uri="{BB962C8B-B14F-4D97-AF65-F5344CB8AC3E}">
        <p14:creationId xmlns:p14="http://schemas.microsoft.com/office/powerpoint/2010/main" val="37179127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B3C61-E004-DE90-9EF4-9C8232A68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Class Distribution - </a:t>
            </a:r>
            <a:r>
              <a:rPr lang="en-US" dirty="0"/>
              <a:t>High vs Low Accident Years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A9413E-C715-BDBC-47CE-26CDE4D8C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603" y="2594513"/>
            <a:ext cx="3378935" cy="3591447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14C963E9-477B-095B-82DB-047638B611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3752" y="3582815"/>
            <a:ext cx="470192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High-risk years: ~44% (98 records)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Low-risk years: ~56% (77 records)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Balanced classes — good for classification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4CFC13-A6E9-F108-BF68-474DDD6EB7B6}"/>
              </a:ext>
            </a:extLst>
          </p:cNvPr>
          <p:cNvSpPr txBox="1"/>
          <p:nvPr/>
        </p:nvSpPr>
        <p:spPr>
          <a:xfrm>
            <a:off x="1225617" y="2110166"/>
            <a:ext cx="79504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effectLst/>
              </a:rPr>
              <a:t>Count (or %) of state-year records classified as high (&gt;5,000 accidents) vs low</a:t>
            </a:r>
          </a:p>
        </p:txBody>
      </p:sp>
    </p:spTree>
    <p:extLst>
      <p:ext uri="{BB962C8B-B14F-4D97-AF65-F5344CB8AC3E}">
        <p14:creationId xmlns:p14="http://schemas.microsoft.com/office/powerpoint/2010/main" val="6000340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18BCC-59A5-7928-0F92-28C243903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Accidents Distribution by Class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BC1EE5-6D42-FAA1-31F1-7B3199B228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646292"/>
            <a:ext cx="5326033" cy="3417620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F2F42FC4-E10F-7795-02D7-4F1E0E524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3727" y="38340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 separation at threshold 5,000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class (0): mostly &lt;5,000 accidents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class (1): mostly &gt;5,000 (large states)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Insight: Threshold creates well-separated classes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58AC07-55FA-A268-E875-AD51A466815D}"/>
              </a:ext>
            </a:extLst>
          </p:cNvPr>
          <p:cNvSpPr txBox="1"/>
          <p:nvPr/>
        </p:nvSpPr>
        <p:spPr>
          <a:xfrm>
            <a:off x="1347537" y="2007160"/>
            <a:ext cx="91054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effectLst/>
              </a:rPr>
              <a:t>Histogram showing how </a:t>
            </a:r>
            <a:r>
              <a:rPr lang="en-US" dirty="0" err="1">
                <a:effectLst/>
              </a:rPr>
              <a:t>Accidents_clean</a:t>
            </a:r>
            <a:r>
              <a:rPr lang="en-US" dirty="0">
                <a:effectLst/>
              </a:rPr>
              <a:t> separates high-risk and low-risk years</a:t>
            </a:r>
          </a:p>
        </p:txBody>
      </p:sp>
    </p:spTree>
    <p:extLst>
      <p:ext uri="{BB962C8B-B14F-4D97-AF65-F5344CB8AC3E}">
        <p14:creationId xmlns:p14="http://schemas.microsoft.com/office/powerpoint/2010/main" val="32569946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83C50-E059-5030-2327-5CDB10C69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Previous Year Accidents: High vs Low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2C230B-2149-D833-8270-C96CDF899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142" y="2968512"/>
            <a:ext cx="4234858" cy="323978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FC781498-F8C7-772A-A8B6-BC56CDC56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3153" y="3154207"/>
            <a:ext cx="5199247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High-risk years (1) have much higher previous accidents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Low-risk years (0) have very low previous numbers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Insight: Accidents_prev is the strongest predictor (matches regression finding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1A14C7-B8F1-D97C-D661-3CE548652957}"/>
              </a:ext>
            </a:extLst>
          </p:cNvPr>
          <p:cNvSpPr txBox="1"/>
          <p:nvPr/>
        </p:nvSpPr>
        <p:spPr>
          <a:xfrm>
            <a:off x="1097280" y="2261117"/>
            <a:ext cx="77322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effectLst/>
              </a:rPr>
              <a:t>Boxplot of </a:t>
            </a:r>
            <a:r>
              <a:rPr lang="en-US" dirty="0" err="1">
                <a:effectLst/>
              </a:rPr>
              <a:t>Accidents_prev</a:t>
            </a:r>
            <a:r>
              <a:rPr lang="en-US" dirty="0">
                <a:effectLst/>
              </a:rPr>
              <a:t> — high-risk years follow high previous years</a:t>
            </a:r>
          </a:p>
        </p:txBody>
      </p:sp>
    </p:spTree>
    <p:extLst>
      <p:ext uri="{BB962C8B-B14F-4D97-AF65-F5344CB8AC3E}">
        <p14:creationId xmlns:p14="http://schemas.microsoft.com/office/powerpoint/2010/main" val="3942267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07DF5-DFD8-E412-D93D-582124961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Average Accident Rates: High vs Low Years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FF533F-E7D1-8346-65BF-5BC085E1BA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610950"/>
            <a:ext cx="4764246" cy="3760788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09EB7A8A-AE6A-5041-CB51-53969A9EB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157426"/>
            <a:ext cx="5921271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High-risk years have higher rates in all metrics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Especially per vehicle (19.49 vs 13.58) and per km (1191.92 vs 869.03)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Insight: High-risk years occur in more dangerous conditions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1F864E-DA13-BA6F-33E4-7E0D30E58488}"/>
              </a:ext>
            </a:extLst>
          </p:cNvPr>
          <p:cNvSpPr txBox="1"/>
          <p:nvPr/>
        </p:nvSpPr>
        <p:spPr>
          <a:xfrm>
            <a:off x="1554480" y="1997325"/>
            <a:ext cx="7437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effectLst/>
              </a:rPr>
              <a:t>Mean values of normalized accident rates for high vs low classes</a:t>
            </a:r>
          </a:p>
        </p:txBody>
      </p:sp>
    </p:spTree>
    <p:extLst>
      <p:ext uri="{BB962C8B-B14F-4D97-AF65-F5344CB8AC3E}">
        <p14:creationId xmlns:p14="http://schemas.microsoft.com/office/powerpoint/2010/main" val="2270483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E04FA-A72A-6506-225B-D5213BCB3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High-Risk States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9C051F-3BE5-5C61-2FCF-FFE7013C0E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4811" y="2529423"/>
            <a:ext cx="4991947" cy="3743960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521C3F6E-DB80-0595-CC14-083AB22DD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089316"/>
            <a:ext cx="606552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Kerala, Tamil Nadu, Madhya Pradesh, etc. = 100% high-risk years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Small states (Lakshadweep, Andaman, Mizoram) = 0% high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Insight: Risk is concentrated in large states — Kerala always high-risk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D5887D-F824-778C-B50B-223D2E877FAA}"/>
              </a:ext>
            </a:extLst>
          </p:cNvPr>
          <p:cNvSpPr txBox="1"/>
          <p:nvPr/>
        </p:nvSpPr>
        <p:spPr>
          <a:xfrm>
            <a:off x="1097280" y="2044006"/>
            <a:ext cx="83291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effectLst/>
              </a:rPr>
              <a:t>Percentage of years classified as high-risk (&gt;5,000 accidents) per state</a:t>
            </a:r>
          </a:p>
        </p:txBody>
      </p:sp>
    </p:spTree>
    <p:extLst>
      <p:ext uri="{BB962C8B-B14F-4D97-AF65-F5344CB8AC3E}">
        <p14:creationId xmlns:p14="http://schemas.microsoft.com/office/powerpoint/2010/main" val="35816852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ACB36-9782-E6C4-8405-B19D594A5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9739D26-022F-C91F-3761-731AD1F3D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320" y="2258319"/>
            <a:ext cx="1021240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Successfully built predictive models for road accidents in India (2016–2022)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Regression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Predicts exact accident numbers with very high accuracy (R² ≈ 0.99, MAE ≈ 939–988)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Classification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Perfectly identifies high-risk (&gt;5,000 accidents) vs low-risk years (accuracy </a:t>
            </a:r>
            <a:r>
              <a:rPr lang="en-US" altLang="en-US" dirty="0">
                <a:latin typeface="Arial" panose="020B0604020202020204" pitchFamily="34" charset="0"/>
              </a:rPr>
              <a:t>99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%, ROC-AUC 1.0)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Key finding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Previous year’s accidents dominate prediction (98% importance) — accidents are highly persistent year-to-year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Kerala insight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Consistently high-risk (always &gt;5,000 accidents) — requires focused safety interventions </a:t>
            </a:r>
          </a:p>
        </p:txBody>
      </p:sp>
    </p:spTree>
    <p:extLst>
      <p:ext uri="{BB962C8B-B14F-4D97-AF65-F5344CB8AC3E}">
        <p14:creationId xmlns:p14="http://schemas.microsoft.com/office/powerpoint/2010/main" val="9164894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C7111-4889-4038-F269-7EA700CB6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7440" y="2655149"/>
            <a:ext cx="10058400" cy="3760891"/>
          </a:xfrm>
        </p:spPr>
        <p:txBody>
          <a:bodyPr>
            <a:normAutofit/>
          </a:bodyPr>
          <a:lstStyle/>
          <a:p>
            <a:r>
              <a:rPr lang="en-US" sz="9600" dirty="0"/>
              <a:t>THANKYOU</a:t>
            </a:r>
            <a:endParaRPr lang="en-IN" sz="9600" dirty="0"/>
          </a:p>
        </p:txBody>
      </p:sp>
    </p:spTree>
    <p:extLst>
      <p:ext uri="{BB962C8B-B14F-4D97-AF65-F5344CB8AC3E}">
        <p14:creationId xmlns:p14="http://schemas.microsoft.com/office/powerpoint/2010/main" val="336370922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{4AA29545-8CF6-4B91-8978-20E2E54ED3AE}TFf0a5ceae-4542-492d-822e-d65a94fb0e1e3b562c5a_win32-009a0557e699</Template>
  <TotalTime>1310</TotalTime>
  <Words>1311</Words>
  <Application>Microsoft Office PowerPoint</Application>
  <PresentationFormat>Widescreen</PresentationFormat>
  <Paragraphs>129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Bookman Old Style</vt:lpstr>
      <vt:lpstr>Calibri</vt:lpstr>
      <vt:lpstr>Franklin Gothic Book</vt:lpstr>
      <vt:lpstr>Custom</vt:lpstr>
      <vt:lpstr>Road Accident Prediction and Risk Classification in India</vt:lpstr>
      <vt:lpstr>Project Objective </vt:lpstr>
      <vt:lpstr>Problem Statement</vt:lpstr>
      <vt:lpstr>Dataset Overview</vt:lpstr>
      <vt:lpstr>Preprocessing Summary</vt:lpstr>
      <vt:lpstr>Key EDA Findings</vt:lpstr>
      <vt:lpstr>Key EDA Findings</vt:lpstr>
      <vt:lpstr>Key EDA Findings</vt:lpstr>
      <vt:lpstr>Key EDA Findings</vt:lpstr>
      <vt:lpstr>Regression Modelling - Predicting Exact Accidents  </vt:lpstr>
      <vt:lpstr>Regression Model Comparison – MAE &amp; R²</vt:lpstr>
      <vt:lpstr>Regression Modelling</vt:lpstr>
      <vt:lpstr>Classification Modeling – High vs Low Accident Years</vt:lpstr>
      <vt:lpstr>Class Distribution - High vs Low Accident Years</vt:lpstr>
      <vt:lpstr>Accidents Distribution by Class</vt:lpstr>
      <vt:lpstr>Previous Year Accidents: High vs Low</vt:lpstr>
      <vt:lpstr>Average Accident Rates: High vs Low Years</vt:lpstr>
      <vt:lpstr>High-Risk States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fathimathulmina2002@outlook.com</dc:creator>
  <cp:lastModifiedBy>fathimathulmina2002@outlook.com</cp:lastModifiedBy>
  <cp:revision>5</cp:revision>
  <dcterms:created xsi:type="dcterms:W3CDTF">2026-03-05T08:38:52Z</dcterms:created>
  <dcterms:modified xsi:type="dcterms:W3CDTF">2026-03-11T07:19:15Z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